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0" r:id="rId7"/>
    <p:sldId id="261" r:id="rId8"/>
    <p:sldId id="266" r:id="rId9"/>
    <p:sldId id="262" r:id="rId10"/>
    <p:sldId id="267"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C2DB79-2D5B-49D0-AB43-050D358D004E}" v="6" dt="2026-04-12T19:14:15.5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nsh Rajput" userId="6fbd20f24460ab00" providerId="LiveId" clId="{62ED652A-A71A-4CBC-961A-A28A487F5F21}"/>
    <pc:docChg chg="undo custSel addSld modSld">
      <pc:chgData name="Shreyansh Rajput" userId="6fbd20f24460ab00" providerId="LiveId" clId="{62ED652A-A71A-4CBC-961A-A28A487F5F21}" dt="2026-04-12T19:14:15.505" v="835" actId="1076"/>
      <pc:docMkLst>
        <pc:docMk/>
      </pc:docMkLst>
      <pc:sldChg chg="modSp mod">
        <pc:chgData name="Shreyansh Rajput" userId="6fbd20f24460ab00" providerId="LiveId" clId="{62ED652A-A71A-4CBC-961A-A28A487F5F21}" dt="2026-04-12T19:09:21.088" v="813" actId="20577"/>
        <pc:sldMkLst>
          <pc:docMk/>
          <pc:sldMk cId="4047219808" sldId="257"/>
        </pc:sldMkLst>
        <pc:spChg chg="mod">
          <ac:chgData name="Shreyansh Rajput" userId="6fbd20f24460ab00" providerId="LiveId" clId="{62ED652A-A71A-4CBC-961A-A28A487F5F21}" dt="2026-04-12T19:09:21.088" v="813" actId="20577"/>
          <ac:spMkLst>
            <pc:docMk/>
            <pc:sldMk cId="4047219808" sldId="257"/>
            <ac:spMk id="3" creationId="{8E86A8CF-2937-6FE2-6F8A-377D2DF1D643}"/>
          </ac:spMkLst>
        </pc:spChg>
      </pc:sldChg>
      <pc:sldChg chg="addSp delSp modSp new mod">
        <pc:chgData name="Shreyansh Rajput" userId="6fbd20f24460ab00" providerId="LiveId" clId="{62ED652A-A71A-4CBC-961A-A28A487F5F21}" dt="2026-04-12T19:14:15.505" v="835" actId="1076"/>
        <pc:sldMkLst>
          <pc:docMk/>
          <pc:sldMk cId="4140178284" sldId="267"/>
        </pc:sldMkLst>
        <pc:spChg chg="mod">
          <ac:chgData name="Shreyansh Rajput" userId="6fbd20f24460ab00" providerId="LiveId" clId="{62ED652A-A71A-4CBC-961A-A28A487F5F21}" dt="2026-04-12T19:11:13.133" v="815"/>
          <ac:spMkLst>
            <pc:docMk/>
            <pc:sldMk cId="4140178284" sldId="267"/>
            <ac:spMk id="2" creationId="{7BA210DC-66E6-470E-2E2B-667586DE14EF}"/>
          </ac:spMkLst>
        </pc:spChg>
        <pc:spChg chg="del mod">
          <ac:chgData name="Shreyansh Rajput" userId="6fbd20f24460ab00" providerId="LiveId" clId="{62ED652A-A71A-4CBC-961A-A28A487F5F21}" dt="2026-04-12T19:13:24.272" v="827"/>
          <ac:spMkLst>
            <pc:docMk/>
            <pc:sldMk cId="4140178284" sldId="267"/>
            <ac:spMk id="3" creationId="{4497BB0C-9F4D-2BFE-3D0F-CF98770D42B9}"/>
          </ac:spMkLst>
        </pc:spChg>
        <pc:spChg chg="add mod">
          <ac:chgData name="Shreyansh Rajput" userId="6fbd20f24460ab00" providerId="LiveId" clId="{62ED652A-A71A-4CBC-961A-A28A487F5F21}" dt="2026-04-12T19:14:15.505" v="835" actId="1076"/>
          <ac:spMkLst>
            <pc:docMk/>
            <pc:sldMk cId="4140178284" sldId="267"/>
            <ac:spMk id="4" creationId="{D27127BE-0A9E-309D-66E7-5925DFDFF5A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934586"/>
            <a:ext cx="9144000" cy="978194"/>
          </a:xfrm>
        </p:spPr>
        <p:txBody>
          <a:bodyPr/>
          <a:lstStyle/>
          <a:p>
            <a:r>
              <a:rPr lang="en-IN" dirty="0"/>
              <a:t>SORTED!</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dirty="0"/>
              <a:t>Shreyansh Rajput</a:t>
            </a:r>
          </a:p>
          <a:p>
            <a:r>
              <a:rPr lang="en-IN" dirty="0"/>
              <a:t>2427030067</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Ridhi Arora</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Upgrades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a:xfrm>
            <a:off x="838200" y="1825624"/>
            <a:ext cx="10717404" cy="5032375"/>
          </a:xfrm>
        </p:spPr>
        <p:txBody>
          <a:bodyPr>
            <a:normAutofit/>
          </a:bodyPr>
          <a:lstStyle/>
          <a:p>
            <a:pPr marL="0" indent="0">
              <a:buNone/>
            </a:pPr>
            <a:r>
              <a:rPr lang="en-US" dirty="0"/>
              <a:t>Sorting algorithms form an essential part of Data Structures &amp; Algorithms. However, students often find it difficult to understand the internal working of algorithms using only code or theoretical explanation. To address this challenge, this project introduces a Python + </a:t>
            </a:r>
            <a:r>
              <a:rPr lang="en-US" dirty="0" err="1"/>
              <a:t>Pygame</a:t>
            </a:r>
            <a:r>
              <a:rPr lang="en-US" dirty="0"/>
              <a:t> based Sorting Algorithm Visualizer that displays sorting operations through animated bars.</a:t>
            </a:r>
          </a:p>
          <a:p>
            <a:pPr marL="0" indent="0">
              <a:buNone/>
            </a:pPr>
            <a:r>
              <a:rPr lang="en-US" dirty="0"/>
              <a:t>This project also includes a gamified learning mode called “Guess the Algorithm,” where the system runs an algorithm animation and the user must identify which sorting algorithm it is. This interactive approach improves conceptual clarity, visual pattern recognition, and engagement.</a:t>
            </a: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p:txBody>
          <a:bodyPr>
            <a:normAutofit/>
          </a:bodyPr>
          <a:lstStyle/>
          <a:p>
            <a:pPr marL="514350" indent="-514350">
              <a:buAutoNum type="arabicPeriod"/>
            </a:pPr>
            <a:r>
              <a:rPr lang="en-IN" dirty="0" err="1"/>
              <a:t>VisuAlgo</a:t>
            </a:r>
            <a:r>
              <a:rPr lang="en-IN" dirty="0"/>
              <a:t> (2013, NTU Singapore): Excellent visualization platform Lacks gamification</a:t>
            </a:r>
          </a:p>
          <a:p>
            <a:pPr marL="514350" indent="-514350">
              <a:buAutoNum type="arabicPeriod"/>
            </a:pPr>
            <a:r>
              <a:rPr lang="en-IN" dirty="0"/>
              <a:t> CS50 Sorting Visualizer: Good for teaching fundamentals but no interactive learning or guess-based features</a:t>
            </a:r>
          </a:p>
          <a:p>
            <a:pPr marL="514350" indent="-514350">
              <a:buAutoNum type="arabicPeriod"/>
            </a:pPr>
            <a:r>
              <a:rPr lang="en-IN" dirty="0"/>
              <a:t>Algorithm Visualizer (Open Source): Supports many algorithms but Does not evaluate user understanding</a:t>
            </a:r>
          </a:p>
        </p:txBody>
      </p:sp>
    </p:spTree>
    <p:extLst>
      <p:ext uri="{BB962C8B-B14F-4D97-AF65-F5344CB8AC3E}">
        <p14:creationId xmlns:p14="http://schemas.microsoft.com/office/powerpoint/2010/main" val="31030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E77DEE-34C0-BC61-41EA-4C03F37FD3B2}"/>
              </a:ext>
            </a:extLst>
          </p:cNvPr>
          <p:cNvSpPr>
            <a:spLocks noGrp="1"/>
          </p:cNvSpPr>
          <p:nvPr>
            <p:ph idx="1"/>
          </p:nvPr>
        </p:nvSpPr>
        <p:spPr/>
        <p:txBody>
          <a:bodyPr/>
          <a:lstStyle/>
          <a:p>
            <a:pPr marL="0" indent="0">
              <a:buNone/>
            </a:pPr>
            <a:r>
              <a:rPr lang="en-US" dirty="0"/>
              <a:t>4. IEEE Paper on Gamification in Computer Science Education (2020), Gamification improves retention by 28–40% also enhances student engagement</a:t>
            </a:r>
          </a:p>
          <a:p>
            <a:pPr marL="0" indent="0">
              <a:buNone/>
            </a:pPr>
            <a:r>
              <a:rPr lang="en-US" dirty="0"/>
              <a:t>5. ACM Study on Visual Learning (2019) Visual tools increase comprehension significantly but Notes lack of interactive algorithm explorers</a:t>
            </a:r>
          </a:p>
        </p:txBody>
      </p:sp>
    </p:spTree>
    <p:extLst>
      <p:ext uri="{BB962C8B-B14F-4D97-AF65-F5344CB8AC3E}">
        <p14:creationId xmlns:p14="http://schemas.microsoft.com/office/powerpoint/2010/main" val="2959735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p:txBody>
          <a:bodyPr/>
          <a:lstStyle/>
          <a:p>
            <a:pPr marL="0" indent="0">
              <a:buNone/>
            </a:pPr>
            <a:r>
              <a:rPr lang="en-US" dirty="0"/>
              <a:t>“Students struggle to intuitively understand sorting algorithms using traditional static or non-interactive methods.”</a:t>
            </a:r>
            <a:endParaRPr lang="en-IN" dirty="0"/>
          </a:p>
        </p:txBody>
      </p:sp>
    </p:spTree>
    <p:extLst>
      <p:ext uri="{BB962C8B-B14F-4D97-AF65-F5344CB8AC3E}">
        <p14:creationId xmlns:p14="http://schemas.microsoft.com/office/powerpoint/2010/main" val="2374707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dirty="0"/>
              <a:t>Proposed Solution</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p:txBody>
          <a:bodyPr/>
          <a:lstStyle/>
          <a:p>
            <a:pPr marL="0" indent="0">
              <a:buNone/>
            </a:pPr>
            <a:r>
              <a:rPr lang="en-IN" dirty="0"/>
              <a:t>A </a:t>
            </a:r>
            <a:r>
              <a:rPr lang="en-IN" dirty="0" err="1"/>
              <a:t>Pygame</a:t>
            </a:r>
            <a:r>
              <a:rPr lang="en-IN" dirty="0"/>
              <a:t> based desktop application that: Animates six sorting algorithms Shows comparisons, swaps, pivots, merges, etc. Includes color-coded visualization Provides a “Guess-the-Algorithm” game with scoring Runs completely offline</a:t>
            </a:r>
          </a:p>
        </p:txBody>
      </p:sp>
    </p:spTree>
    <p:extLst>
      <p:ext uri="{BB962C8B-B14F-4D97-AF65-F5344CB8AC3E}">
        <p14:creationId xmlns:p14="http://schemas.microsoft.com/office/powerpoint/2010/main" val="1077724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diagram of a computer&#10;&#10;AI-generated content may be incorrect.">
            <a:extLst>
              <a:ext uri="{FF2B5EF4-FFF2-40B4-BE49-F238E27FC236}">
                <a16:creationId xmlns:a16="http://schemas.microsoft.com/office/drawing/2014/main" id="{3E69751B-0B05-10AE-ADC3-0AC806BE3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175" y="977606"/>
            <a:ext cx="11922825" cy="5702221"/>
          </a:xfrm>
          <a:prstGeom prst="rect">
            <a:avLst/>
          </a:prstGeom>
        </p:spPr>
      </p:pic>
      <p:sp>
        <p:nvSpPr>
          <p:cNvPr id="3" name="Content Placeholder 2">
            <a:extLst>
              <a:ext uri="{FF2B5EF4-FFF2-40B4-BE49-F238E27FC236}">
                <a16:creationId xmlns:a16="http://schemas.microsoft.com/office/drawing/2014/main" id="{7573733B-C3EF-76D7-2A6C-9A3547D7FC8F}"/>
              </a:ext>
            </a:extLst>
          </p:cNvPr>
          <p:cNvSpPr>
            <a:spLocks noGrp="1"/>
          </p:cNvSpPr>
          <p:nvPr>
            <p:ph idx="1"/>
          </p:nvPr>
        </p:nvSpPr>
        <p:spPr>
          <a:xfrm>
            <a:off x="838200" y="1825625"/>
            <a:ext cx="101400434" cy="21362200"/>
          </a:xfrm>
        </p:spPr>
        <p:txBody>
          <a:bodyPr/>
          <a:lstStyle/>
          <a:p>
            <a:r>
              <a:rPr lang="en-US" dirty="0"/>
              <a:t>Flow Chart:</a:t>
            </a:r>
          </a:p>
          <a:p>
            <a:pPr marL="0" indent="0">
              <a:buNone/>
            </a:pPr>
            <a:endParaRPr lang="en-US" dirty="0"/>
          </a:p>
        </p:txBody>
      </p:sp>
      <p:sp>
        <p:nvSpPr>
          <p:cNvPr id="4" name="AutoShape 2">
            <a:extLst>
              <a:ext uri="{FF2B5EF4-FFF2-40B4-BE49-F238E27FC236}">
                <a16:creationId xmlns:a16="http://schemas.microsoft.com/office/drawing/2014/main" id="{E8D3CF20-A3CF-BB86-3A3E-6404A6718BEE}"/>
              </a:ext>
            </a:extLst>
          </p:cNvPr>
          <p:cNvSpPr>
            <a:spLocks noChangeAspect="1" noChangeArrowheads="1"/>
          </p:cNvSpPr>
          <p:nvPr/>
        </p:nvSpPr>
        <p:spPr bwMode="auto">
          <a:xfrm>
            <a:off x="5943599" y="3276599"/>
            <a:ext cx="2939143" cy="29391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5973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p:txBody>
          <a:bodyPr/>
          <a:lstStyle/>
          <a:p>
            <a:r>
              <a:rPr lang="en-IN" dirty="0"/>
              <a:t>To visually demonstrate sorting algorithms using animated bars </a:t>
            </a:r>
          </a:p>
          <a:p>
            <a:r>
              <a:rPr lang="en-IN" dirty="0"/>
              <a:t>To enhance intuitive understanding through real-time operations</a:t>
            </a:r>
          </a:p>
          <a:p>
            <a:r>
              <a:rPr lang="en-IN" dirty="0"/>
              <a:t>To introduce gamified learning to test algorithm recognition </a:t>
            </a:r>
          </a:p>
          <a:p>
            <a:r>
              <a:rPr lang="en-IN" dirty="0"/>
              <a:t>To build a Python desktop tool that supports offline learning</a:t>
            </a:r>
          </a:p>
          <a:p>
            <a:r>
              <a:rPr lang="en-IN" dirty="0"/>
              <a:t>To support multiple algorithms: Bubble, Selection, Insertion, Merge, Quick, Heap</a:t>
            </a:r>
          </a:p>
        </p:txBody>
      </p:sp>
    </p:spTree>
    <p:extLst>
      <p:ext uri="{BB962C8B-B14F-4D97-AF65-F5344CB8AC3E}">
        <p14:creationId xmlns:p14="http://schemas.microsoft.com/office/powerpoint/2010/main" val="3547097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210DC-66E6-470E-2E2B-667586DE14EF}"/>
              </a:ext>
            </a:extLst>
          </p:cNvPr>
          <p:cNvSpPr>
            <a:spLocks noGrp="1"/>
          </p:cNvSpPr>
          <p:nvPr>
            <p:ph type="title"/>
          </p:nvPr>
        </p:nvSpPr>
        <p:spPr/>
        <p:txBody>
          <a:bodyPr/>
          <a:lstStyle/>
          <a:p>
            <a:r>
              <a:rPr lang="en-US" dirty="0"/>
              <a:t>Advancements &amp; Enhancements</a:t>
            </a:r>
          </a:p>
        </p:txBody>
      </p:sp>
      <p:sp>
        <p:nvSpPr>
          <p:cNvPr id="4" name="Rectangle 1">
            <a:extLst>
              <a:ext uri="{FF2B5EF4-FFF2-40B4-BE49-F238E27FC236}">
                <a16:creationId xmlns:a16="http://schemas.microsoft.com/office/drawing/2014/main" id="{D27127BE-0A9E-309D-66E7-5925DFDFF5A9}"/>
              </a:ext>
            </a:extLst>
          </p:cNvPr>
          <p:cNvSpPr>
            <a:spLocks noGrp="1" noChangeArrowheads="1"/>
          </p:cNvSpPr>
          <p:nvPr>
            <p:ph idx="1"/>
          </p:nvPr>
        </p:nvSpPr>
        <p:spPr bwMode="auto">
          <a:xfrm>
            <a:off x="838200" y="1362515"/>
            <a:ext cx="10471136"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Modern dark-themed UI with interactive buttons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Added </a:t>
            </a:r>
            <a:r>
              <a:rPr kumimoji="0" lang="en-US" altLang="en-US" sz="2400" b="1" i="0" u="none" strike="noStrike" cap="none" normalizeH="0" baseline="0" dirty="0">
                <a:ln>
                  <a:noFill/>
                </a:ln>
                <a:solidFill>
                  <a:schemeClr val="tx1"/>
                </a:solidFill>
                <a:effectLst/>
                <a:latin typeface="Arial" panose="020B0604020202020204" pitchFamily="34" charset="0"/>
              </a:rPr>
              <a:t>Pause/Resume</a:t>
            </a:r>
            <a:r>
              <a:rPr kumimoji="0" lang="en-US" altLang="en-US" sz="2400" b="0" i="0" u="none" strike="noStrike" cap="none" normalizeH="0" baseline="0" dirty="0">
                <a:ln>
                  <a:noFill/>
                </a:ln>
                <a:solidFill>
                  <a:schemeClr val="tx1"/>
                </a:solidFill>
                <a:effectLst/>
                <a:latin typeface="Arial" panose="020B0604020202020204" pitchFamily="34" charset="0"/>
              </a:rPr>
              <a:t> and real-time speed control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Implemented </a:t>
            </a:r>
            <a:r>
              <a:rPr kumimoji="0" lang="en-US" altLang="en-US" sz="2400" b="1" i="0" u="none" strike="noStrike" cap="none" normalizeH="0" baseline="0" dirty="0">
                <a:ln>
                  <a:noFill/>
                </a:ln>
                <a:solidFill>
                  <a:schemeClr val="tx1"/>
                </a:solidFill>
                <a:effectLst/>
                <a:latin typeface="Arial" panose="020B0604020202020204" pitchFamily="34" charset="0"/>
              </a:rPr>
              <a:t>non-blocking (generator-based) sorting</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Supports </a:t>
            </a:r>
            <a:r>
              <a:rPr kumimoji="0" lang="en-US" altLang="en-US" sz="2400" b="1" i="0" u="none" strike="noStrike" cap="none" normalizeH="0" baseline="0" dirty="0">
                <a:ln>
                  <a:noFill/>
                </a:ln>
                <a:solidFill>
                  <a:schemeClr val="tx1"/>
                </a:solidFill>
                <a:effectLst/>
                <a:latin typeface="Arial" panose="020B0604020202020204" pitchFamily="34" charset="0"/>
              </a:rPr>
              <a:t>6 algorithms</a:t>
            </a:r>
            <a:r>
              <a:rPr kumimoji="0" lang="en-US" altLang="en-US" sz="2400" b="0" i="0" u="none" strike="noStrike" cap="none" normalizeH="0" baseline="0" dirty="0">
                <a:ln>
                  <a:noFill/>
                </a:ln>
                <a:solidFill>
                  <a:schemeClr val="tx1"/>
                </a:solidFill>
                <a:effectLst/>
                <a:latin typeface="Arial" panose="020B0604020202020204" pitchFamily="34" charset="0"/>
              </a:rPr>
              <a:t> (Bubble, Selection, Insertion, Merge, Quick, Heap)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Displays </a:t>
            </a:r>
            <a:r>
              <a:rPr kumimoji="0" lang="en-US" altLang="en-US" sz="2400" b="1" i="0" u="none" strike="noStrike" cap="none" normalizeH="0" baseline="0" dirty="0">
                <a:ln>
                  <a:noFill/>
                </a:ln>
                <a:solidFill>
                  <a:schemeClr val="tx1"/>
                </a:solidFill>
                <a:effectLst/>
                <a:latin typeface="Arial" panose="020B0604020202020204" pitchFamily="34" charset="0"/>
              </a:rPr>
              <a:t>numbers, colors, and live status (Running/Paused)</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Improved smoothness and user experience </a:t>
            </a:r>
          </a:p>
        </p:txBody>
      </p:sp>
    </p:spTree>
    <p:extLst>
      <p:ext uri="{BB962C8B-B14F-4D97-AF65-F5344CB8AC3E}">
        <p14:creationId xmlns:p14="http://schemas.microsoft.com/office/powerpoint/2010/main" val="4140178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p:txBody>
          <a:bodyPr/>
          <a:lstStyle/>
          <a:p>
            <a:pPr marL="514350" indent="-514350">
              <a:buAutoNum type="arabicPeriod"/>
            </a:pPr>
            <a:r>
              <a:rPr lang="en-IN" dirty="0" err="1"/>
              <a:t>VisuAlgo</a:t>
            </a:r>
            <a:r>
              <a:rPr lang="en-IN" dirty="0"/>
              <a:t> – Nanyang Technological University</a:t>
            </a:r>
          </a:p>
          <a:p>
            <a:pPr marL="514350" indent="-514350">
              <a:buAutoNum type="arabicPeriod"/>
            </a:pPr>
            <a:r>
              <a:rPr lang="en-IN" dirty="0"/>
              <a:t> CS50 Visual Sorting</a:t>
            </a:r>
          </a:p>
          <a:p>
            <a:pPr marL="514350" indent="-514350">
              <a:buAutoNum type="arabicPeriod"/>
            </a:pPr>
            <a:r>
              <a:rPr lang="en-IN" dirty="0"/>
              <a:t> Algorithm Visualizer (Open Source)</a:t>
            </a:r>
          </a:p>
          <a:p>
            <a:pPr marL="514350" indent="-514350">
              <a:buAutoNum type="arabicPeriod"/>
            </a:pPr>
            <a:r>
              <a:rPr lang="en-IN" dirty="0"/>
              <a:t> IEEE Gamification in Education (2020)</a:t>
            </a:r>
          </a:p>
          <a:p>
            <a:pPr marL="514350" indent="-514350">
              <a:buAutoNum type="arabicPeriod"/>
            </a:pPr>
            <a:r>
              <a:rPr lang="en-IN" dirty="0"/>
              <a:t> ACM Visual Learning Study (2019)</a:t>
            </a:r>
          </a:p>
          <a:p>
            <a:pPr marL="514350" indent="-514350">
              <a:buAutoNum type="arabicPeriod"/>
            </a:pPr>
            <a:r>
              <a:rPr lang="en-IN" dirty="0"/>
              <a:t> </a:t>
            </a:r>
            <a:r>
              <a:rPr lang="en-IN" dirty="0" err="1"/>
              <a:t>Pygame</a:t>
            </a:r>
            <a:r>
              <a:rPr lang="en-IN" dirty="0"/>
              <a:t> Documentation</a:t>
            </a:r>
          </a:p>
        </p:txBody>
      </p:sp>
    </p:spTree>
    <p:extLst>
      <p:ext uri="{BB962C8B-B14F-4D97-AF65-F5344CB8AC3E}">
        <p14:creationId xmlns:p14="http://schemas.microsoft.com/office/powerpoint/2010/main" val="2724917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435</Words>
  <Application>Microsoft Office PowerPoint</Application>
  <PresentationFormat>Widescreen</PresentationFormat>
  <Paragraphs>54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Wingdings</vt:lpstr>
      <vt:lpstr>Office Theme</vt:lpstr>
      <vt:lpstr>SORTED!</vt:lpstr>
      <vt:lpstr>Outline</vt:lpstr>
      <vt:lpstr>Introduction</vt:lpstr>
      <vt:lpstr>Literature Review</vt:lpstr>
      <vt:lpstr>PowerPoint Presentation</vt:lpstr>
      <vt:lpstr>Problem Statement</vt:lpstr>
      <vt:lpstr>Proposed Solution</vt:lpstr>
      <vt:lpstr>PowerPoint Presentation</vt:lpstr>
      <vt:lpstr>Objectives</vt:lpstr>
      <vt:lpstr>Advancements &amp; Enhancements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Shreyansh Rajput</cp:lastModifiedBy>
  <cp:revision>1</cp:revision>
  <dcterms:created xsi:type="dcterms:W3CDTF">2025-09-29T05:03:41Z</dcterms:created>
  <dcterms:modified xsi:type="dcterms:W3CDTF">2026-04-12T19:14:22Z</dcterms:modified>
</cp:coreProperties>
</file>